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97" r:id="rId14"/>
    <p:sldId id="294" r:id="rId15"/>
    <p:sldId id="296" r:id="rId16"/>
    <p:sldId id="295" r:id="rId17"/>
    <p:sldId id="290" r:id="rId18"/>
    <p:sldId id="280" r:id="rId19"/>
    <p:sldId id="288" r:id="rId20"/>
    <p:sldId id="289"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B52AD4-3B14-4F1D-8A2D-161035F15F50}" v="22" dt="2026-09-11T15:05:40.65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CE407EB-2EFB-9E6B-682B-19F8D0844DB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F9062A6B-9A1C-6EC0-F5FF-723AFCF59F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0B43E85-E9EA-09DC-5231-06C16D6BD8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7852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87AE272-0637-5E55-DF7C-84DCAE2667C8}"/>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F3ACADA2-3800-FA47-4E39-71EA98FC5F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37F65A1D-644F-4B64-BF18-BB7728D1F0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8348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23C5F935-C8A0-34D3-05E1-3B988C74162C}"/>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D33FEC03-4D8B-8735-9721-6EDA9FE2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3C914AD-8E35-61C3-2483-FA0F1324DC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4990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8325339-54F8-8A63-A62A-FCED417678AE}"/>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291B906-5790-53FC-6BDE-341330B320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A912656-EB57-049E-C893-645FA1E969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0394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0932C22-9EDB-C6BC-5B86-45F91DD27F7E}"/>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0139CE7-7BAD-00A7-21E3-9CA5BD7BCC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233D4BE7-9939-3BDD-0488-C36482E588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043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GDAMPraveen/MaternaLens-AI"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maternalens-ai-mknaw47edrux4hcrlzju98.streamlit.app/"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12268112"/>
              </p:ext>
            </p:extLst>
          </p:nvPr>
        </p:nvGraphicFramePr>
        <p:xfrm>
          <a:off x="705582" y="2871262"/>
          <a:ext cx="10586975" cy="2335297"/>
        </p:xfrm>
        <a:graphic>
          <a:graphicData uri="http://schemas.openxmlformats.org/drawingml/2006/table">
            <a:tbl>
              <a:tblPr>
                <a:noFill/>
                <a:tableStyleId>{0AAD8F4D-43EB-41E5-8A38-28AB6DFB1B60}</a:tableStyleId>
              </a:tblPr>
              <a:tblGrid>
                <a:gridCol w="2326847">
                  <a:extLst>
                    <a:ext uri="{9D8B030D-6E8A-4147-A177-3AD203B41FA5}">
                      <a16:colId xmlns:a16="http://schemas.microsoft.com/office/drawing/2014/main" val="20000"/>
                    </a:ext>
                  </a:extLst>
                </a:gridCol>
                <a:gridCol w="2527922">
                  <a:extLst>
                    <a:ext uri="{9D8B030D-6E8A-4147-A177-3AD203B41FA5}">
                      <a16:colId xmlns:a16="http://schemas.microsoft.com/office/drawing/2014/main" val="20002"/>
                    </a:ext>
                  </a:extLst>
                </a:gridCol>
                <a:gridCol w="2978830">
                  <a:extLst>
                    <a:ext uri="{9D8B030D-6E8A-4147-A177-3AD203B41FA5}">
                      <a16:colId xmlns:a16="http://schemas.microsoft.com/office/drawing/2014/main" val="20003"/>
                    </a:ext>
                  </a:extLst>
                </a:gridCol>
                <a:gridCol w="2753376">
                  <a:extLst>
                    <a:ext uri="{9D8B030D-6E8A-4147-A177-3AD203B41FA5}">
                      <a16:colId xmlns:a16="http://schemas.microsoft.com/office/drawing/2014/main" val="20004"/>
                    </a:ext>
                  </a:extLst>
                </a:gridCol>
              </a:tblGrid>
              <a:tr h="1048760">
                <a:tc>
                  <a:txBody>
                    <a:bodyPr/>
                    <a:lstStyle/>
                    <a:p>
                      <a:pPr marL="0" marR="0" lvl="0" indent="0" algn="ctr" rtl="0">
                        <a:spcBef>
                          <a:spcPts val="0"/>
                        </a:spcBef>
                        <a:spcAft>
                          <a:spcPts val="0"/>
                        </a:spcAft>
                        <a:buNone/>
                      </a:pPr>
                      <a:r>
                        <a:rPr lang="en-US" sz="2000" b="1" u="none" strike="noStrike" cap="none"/>
                        <a:t>Student Name</a:t>
                      </a:r>
                      <a:endParaRPr sz="2000" b="1"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000" b="1" u="none" strike="noStrike" cap="none" dirty="0"/>
                        <a:t>Recent Passport Photo</a:t>
                      </a:r>
                      <a:endParaRPr sz="2000" b="1"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rgbClr val="000000"/>
                          </a:solidFill>
                          <a:latin typeface="Arial"/>
                          <a:ea typeface="Calibri"/>
                          <a:cs typeface="Arial"/>
                          <a:sym typeface="Calibri"/>
                        </a:rPr>
                        <a:t>Email ID </a:t>
                      </a:r>
                      <a:endParaRPr sz="2000" b="1"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1" i="0" u="none" strike="noStrike" cap="none" dirty="0">
                          <a:solidFill>
                            <a:srgbClr val="000000"/>
                          </a:solidFill>
                          <a:latin typeface="Arial"/>
                          <a:ea typeface="Calibri"/>
                          <a:cs typeface="Arial"/>
                          <a:sym typeface="Calibri"/>
                        </a:rPr>
                        <a:t>Mobile number</a:t>
                      </a:r>
                      <a:endParaRPr sz="2000" b="1"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1" i="0" u="none" strike="noStrike" cap="none" dirty="0">
                          <a:solidFill>
                            <a:srgbClr val="000000"/>
                          </a:solidFill>
                          <a:latin typeface="Arial"/>
                          <a:ea typeface="Calibri"/>
                          <a:cs typeface="Arial"/>
                          <a:sym typeface="Calibri"/>
                        </a:rPr>
                        <a:t>[WhatsApp] </a:t>
                      </a:r>
                      <a:endParaRPr sz="2000" b="1"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286537">
                <a:tc>
                  <a:txBody>
                    <a:bodyPr/>
                    <a:lstStyle/>
                    <a:p>
                      <a:pPr marL="0" marR="0" lvl="0" indent="0" algn="l" rtl="0">
                        <a:spcBef>
                          <a:spcPts val="0"/>
                        </a:spcBef>
                        <a:spcAft>
                          <a:spcPts val="0"/>
                        </a:spcAft>
                        <a:buNone/>
                      </a:pPr>
                      <a:endParaRPr lang="en-US" sz="1600" b="1" dirty="0">
                        <a:latin typeface="Arial Black" panose="020B0A04020102020204" pitchFamily="34" charset="0"/>
                      </a:endParaRPr>
                    </a:p>
                    <a:p>
                      <a:pPr marL="0" marR="0" lvl="0" indent="0" algn="l" rtl="0">
                        <a:spcBef>
                          <a:spcPts val="0"/>
                        </a:spcBef>
                        <a:spcAft>
                          <a:spcPts val="0"/>
                        </a:spcAft>
                        <a:buNone/>
                      </a:pPr>
                      <a:endParaRPr lang="en-US" sz="1600" b="1" dirty="0">
                        <a:latin typeface="Arial Black" panose="020B0A04020102020204" pitchFamily="34" charset="0"/>
                      </a:endParaRPr>
                    </a:p>
                    <a:p>
                      <a:pPr marL="0" marR="0" lvl="0" indent="0" algn="l" rtl="0">
                        <a:spcBef>
                          <a:spcPts val="0"/>
                        </a:spcBef>
                        <a:spcAft>
                          <a:spcPts val="0"/>
                        </a:spcAft>
                        <a:buNone/>
                      </a:pPr>
                      <a:r>
                        <a:rPr lang="en-US" sz="2000" b="1" dirty="0">
                          <a:latin typeface="Arial" panose="020B0604020202020204" pitchFamily="34" charset="0"/>
                          <a:cs typeface="Arial" panose="020B0604020202020204" pitchFamily="34" charset="0"/>
                        </a:rPr>
                        <a:t>PRAVEEN S</a:t>
                      </a:r>
                      <a:endParaRPr sz="2000" b="1" dirty="0">
                        <a:latin typeface="Arial" panose="020B0604020202020204" pitchFamily="34" charset="0"/>
                        <a:cs typeface="Arial" panose="020B060402020202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b="1"/>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2000" b="1"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2000" b="1" dirty="0">
                          <a:latin typeface="Arial" panose="020B0604020202020204" pitchFamily="34" charset="0"/>
                          <a:cs typeface="Arial" panose="020B0604020202020204" pitchFamily="34" charset="0"/>
                        </a:rPr>
                        <a:t>p2452293@gmail.com</a:t>
                      </a:r>
                      <a:endParaRPr sz="2000" b="1" dirty="0">
                        <a:latin typeface="Arial" panose="020B0604020202020204" pitchFamily="34" charset="0"/>
                        <a:cs typeface="Arial" panose="020B060402020202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800" b="1"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IN" sz="2400" b="1" dirty="0">
                          <a:latin typeface="Arial" panose="020B0604020202020204" pitchFamily="34" charset="0"/>
                          <a:cs typeface="Arial" panose="020B0604020202020204" pitchFamily="34" charset="0"/>
                        </a:rPr>
                        <a:t>+91 8971864893</a:t>
                      </a:r>
                      <a:endParaRPr sz="2400" b="1" dirty="0">
                        <a:latin typeface="Arial" panose="020B0604020202020204" pitchFamily="34" charset="0"/>
                        <a:cs typeface="Arial" panose="020B060402020202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02321" y="1626158"/>
            <a:ext cx="10280254" cy="954107"/>
          </a:xfrm>
          <a:prstGeom prst="rect">
            <a:avLst/>
          </a:prstGeom>
          <a:noFill/>
        </p:spPr>
        <p:txBody>
          <a:bodyPr wrap="square" rtlCol="0">
            <a:spAutoFit/>
          </a:bodyPr>
          <a:lstStyle/>
          <a:p>
            <a:r>
              <a:rPr lang="en-US" sz="2400" b="1" dirty="0"/>
              <a:t>Domain of  Project – </a:t>
            </a:r>
            <a:r>
              <a:rPr lang="en-US" sz="2800" b="1" dirty="0">
                <a:highlight>
                  <a:srgbClr val="FFFF00"/>
                </a:highlight>
              </a:rPr>
              <a:t>HealthCare - </a:t>
            </a:r>
            <a:r>
              <a:rPr lang="en-IN" sz="2800" b="1" dirty="0">
                <a:highlight>
                  <a:srgbClr val="FFFF00"/>
                </a:highlight>
              </a:rPr>
              <a:t>Problem Statements on ML by using AI_KOSH data sets</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954107"/>
          </a:xfrm>
          <a:prstGeom prst="rect">
            <a:avLst/>
          </a:prstGeom>
          <a:noFill/>
        </p:spPr>
        <p:txBody>
          <a:bodyPr wrap="square" rtlCol="0">
            <a:spAutoFit/>
          </a:bodyPr>
          <a:lstStyle/>
          <a:p>
            <a:r>
              <a:rPr lang="en-US" sz="2400" b="1" dirty="0"/>
              <a:t>Project Tile – </a:t>
            </a:r>
            <a:r>
              <a:rPr lang="en-US" sz="2400" b="1" dirty="0">
                <a:highlight>
                  <a:srgbClr val="FFFF00"/>
                </a:highlight>
              </a:rPr>
              <a:t> </a:t>
            </a:r>
            <a:r>
              <a:rPr lang="en-IN" sz="2800" b="1" dirty="0">
                <a:highlight>
                  <a:srgbClr val="FFFF00"/>
                </a:highlight>
              </a:rPr>
              <a:t>Tracking Maternal Health Progress Toward SDG 3.1: A Global Data Analysis</a:t>
            </a:r>
            <a:endParaRPr lang="en-IN" sz="2400" b="1" dirty="0">
              <a:highlight>
                <a:srgbClr val="FFFF00"/>
              </a:highlight>
            </a:endParaRPr>
          </a:p>
        </p:txBody>
      </p:sp>
      <p:pic>
        <p:nvPicPr>
          <p:cNvPr id="5" name="Picture 4">
            <a:extLst>
              <a:ext uri="{FF2B5EF4-FFF2-40B4-BE49-F238E27FC236}">
                <a16:creationId xmlns:a16="http://schemas.microsoft.com/office/drawing/2014/main" id="{90A49C0B-145D-F9AC-133E-A3302FD32197}"/>
              </a:ext>
            </a:extLst>
          </p:cNvPr>
          <p:cNvPicPr>
            <a:picLocks noChangeAspect="1"/>
          </p:cNvPicPr>
          <p:nvPr/>
        </p:nvPicPr>
        <p:blipFill>
          <a:blip r:embed="rId3"/>
          <a:stretch>
            <a:fillRect/>
          </a:stretch>
        </p:blipFill>
        <p:spPr>
          <a:xfrm>
            <a:off x="3653108" y="3941431"/>
            <a:ext cx="1253188" cy="1167107"/>
          </a:xfrm>
          <a:prstGeom prst="rect">
            <a:avLst/>
          </a:prstGeom>
        </p:spPr>
      </p:pic>
      <p:sp>
        <p:nvSpPr>
          <p:cNvPr id="3" name="TextBox 2">
            <a:extLst>
              <a:ext uri="{FF2B5EF4-FFF2-40B4-BE49-F238E27FC236}">
                <a16:creationId xmlns:a16="http://schemas.microsoft.com/office/drawing/2014/main" id="{A8719A36-B59C-1F6A-5BAD-8A9FF81FD626}"/>
              </a:ext>
            </a:extLst>
          </p:cNvPr>
          <p:cNvSpPr txBox="1"/>
          <p:nvPr/>
        </p:nvSpPr>
        <p:spPr>
          <a:xfrm>
            <a:off x="319972" y="5452528"/>
            <a:ext cx="6096000" cy="461665"/>
          </a:xfrm>
          <a:prstGeom prst="rect">
            <a:avLst/>
          </a:prstGeom>
          <a:noFill/>
        </p:spPr>
        <p:txBody>
          <a:bodyPr wrap="square">
            <a:spAutoFit/>
          </a:bodyPr>
          <a:lstStyle/>
          <a:p>
            <a:pPr algn="r"/>
            <a:r>
              <a:rPr lang="en-US" sz="2400" b="0" u="sng" dirty="0" err="1">
                <a:solidFill>
                  <a:schemeClr val="tx1"/>
                </a:solidFill>
              </a:rPr>
              <a:t>Aicte</a:t>
            </a:r>
            <a:r>
              <a:rPr lang="en-US" sz="2400" b="0" u="sng" dirty="0">
                <a:solidFill>
                  <a:schemeClr val="tx1"/>
                </a:solidFill>
              </a:rPr>
              <a:t> Id</a:t>
            </a:r>
            <a:r>
              <a:rPr lang="en-US" sz="2400" b="0" dirty="0">
                <a:solidFill>
                  <a:schemeClr val="tx1"/>
                </a:solidFill>
              </a:rPr>
              <a:t> : </a:t>
            </a:r>
            <a:r>
              <a:rPr lang="en-IN" sz="2400" b="0" kern="0" dirty="0">
                <a:solidFill>
                  <a:schemeClr val="tx1"/>
                </a:solidFill>
                <a:latin typeface="Arial"/>
                <a:ea typeface="Arial"/>
                <a:cs typeface="Arial"/>
                <a:sym typeface="Arial"/>
              </a:rPr>
              <a:t>STU66a0f37fe84ca1721824127</a:t>
            </a:r>
            <a:endParaRPr lang="en-IN" sz="2400" b="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968969"/>
            <a:ext cx="10607040" cy="5632311"/>
          </a:xfrm>
          <a:prstGeom prst="rect">
            <a:avLst/>
          </a:prstGeom>
          <a:noFill/>
        </p:spPr>
        <p:txBody>
          <a:bodyPr wrap="square" rtlCol="0">
            <a:spAutoFit/>
          </a:bodyPr>
          <a:lstStyle/>
          <a:p>
            <a:r>
              <a:rPr lang="en-IN" sz="1500" b="1" dirty="0"/>
              <a:t>Problem Statement 36 — Tracking Maternal Health Progress Toward SDG 3.1</a:t>
            </a:r>
          </a:p>
          <a:p>
            <a:endParaRPr lang="en-IN" sz="1500" b="1" dirty="0"/>
          </a:p>
          <a:p>
            <a:r>
              <a:rPr lang="en-IN" sz="1500" b="1" dirty="0"/>
              <a:t>The Challenge</a:t>
            </a:r>
          </a:p>
          <a:p>
            <a:endParaRPr lang="en-IN" sz="1500" b="1" dirty="0"/>
          </a:p>
          <a:p>
            <a:r>
              <a:rPr lang="en-IN" sz="1500" dirty="0"/>
              <a:t>Maternal health datasets can be difficult to interpret and </a:t>
            </a:r>
            <a:r>
              <a:rPr lang="en-IN" sz="1500" dirty="0" err="1"/>
              <a:t>analyze</a:t>
            </a:r>
            <a:r>
              <a:rPr lang="en-IN" sz="1500" dirty="0"/>
              <a:t> because they typically contain:</a:t>
            </a:r>
          </a:p>
          <a:p>
            <a:pPr marL="285750" lvl="0" indent="-285750">
              <a:buFont typeface="Arial" panose="020B0604020202020204" pitchFamily="34" charset="0"/>
              <a:buChar char="•"/>
            </a:pPr>
            <a:r>
              <a:rPr lang="en-IN" sz="1500" dirty="0"/>
              <a:t>Multiple indicators with different measurement units and time-period formats </a:t>
            </a:r>
          </a:p>
          <a:p>
            <a:pPr marL="285750" lvl="0" indent="-285750">
              <a:buFont typeface="Arial" panose="020B0604020202020204" pitchFamily="34" charset="0"/>
              <a:buChar char="•"/>
            </a:pPr>
            <a:r>
              <a:rPr lang="en-IN" sz="1500" dirty="0"/>
              <a:t>Missing values, mixed numeric and categorical values, and large record counts </a:t>
            </a:r>
          </a:p>
          <a:p>
            <a:pPr marL="285750" lvl="0" indent="-285750">
              <a:buFont typeface="Arial" panose="020B0604020202020204" pitchFamily="34" charset="0"/>
              <a:buChar char="•"/>
            </a:pPr>
            <a:r>
              <a:rPr lang="en-IN" sz="1500" dirty="0"/>
              <a:t>Multiple geographic dimensions across vast repositories </a:t>
            </a:r>
          </a:p>
          <a:p>
            <a:pPr lvl="0"/>
            <a:endParaRPr lang="en-IN" sz="1500" dirty="0"/>
          </a:p>
          <a:p>
            <a:r>
              <a:rPr lang="en-IN" sz="1500" b="1" dirty="0"/>
              <a:t>The Objective</a:t>
            </a:r>
          </a:p>
          <a:p>
            <a:endParaRPr lang="en-IN" sz="1500" b="1" dirty="0"/>
          </a:p>
          <a:p>
            <a:pPr lvl="8"/>
            <a:r>
              <a:rPr lang="en-IN" sz="1500" dirty="0"/>
              <a:t>Users should not need advanced data-analysis knowledge just to understand:</a:t>
            </a:r>
          </a:p>
          <a:p>
            <a:pPr marL="285750" lvl="7" indent="-285750">
              <a:buFont typeface="Wingdings" panose="05000000000000000000" pitchFamily="2" charset="2"/>
              <a:buChar char="ü"/>
            </a:pPr>
            <a:r>
              <a:rPr lang="en-IN" sz="1500" dirty="0"/>
              <a:t>What the latest maternal mortality value is </a:t>
            </a:r>
          </a:p>
          <a:p>
            <a:pPr marL="285750" lvl="7" indent="-285750">
              <a:buFont typeface="Wingdings" panose="05000000000000000000" pitchFamily="2" charset="2"/>
              <a:buChar char="ü"/>
            </a:pPr>
            <a:r>
              <a:rPr lang="en-IN" sz="1500" dirty="0"/>
              <a:t>Whether progress is actively being made toward global targets </a:t>
            </a:r>
          </a:p>
          <a:p>
            <a:pPr marL="285750" lvl="7" indent="-285750">
              <a:buFont typeface="Wingdings" panose="05000000000000000000" pitchFamily="2" charset="2"/>
              <a:buChar char="ü"/>
            </a:pPr>
            <a:r>
              <a:rPr lang="en-IN" sz="1500" dirty="0"/>
              <a:t>How far the current data is from the Sustainable Development Goal (SDG) target </a:t>
            </a:r>
          </a:p>
          <a:p>
            <a:pPr marL="285750" lvl="7" indent="-285750">
              <a:buFont typeface="Wingdings" panose="05000000000000000000" pitchFamily="2" charset="2"/>
              <a:buChar char="ü"/>
            </a:pPr>
            <a:r>
              <a:rPr lang="en-IN" sz="1500" dirty="0"/>
              <a:t>Which healthcare and coverage indicators show critical gaps </a:t>
            </a:r>
          </a:p>
          <a:p>
            <a:pPr lvl="6"/>
            <a:r>
              <a:rPr lang="en-IN" sz="1500" b="1" dirty="0"/>
              <a:t>SDG 3.1 Target:</a:t>
            </a:r>
            <a:r>
              <a:rPr lang="en-IN" sz="1500" dirty="0"/>
              <a:t> Reduce the global maternal mortality ratio to less than 70 deaths per 100,000 live births by 2030. </a:t>
            </a:r>
          </a:p>
          <a:p>
            <a:endParaRPr lang="en-IN" sz="1500" dirty="0"/>
          </a:p>
          <a:p>
            <a:r>
              <a:rPr lang="en-IN" sz="1500" b="1" dirty="0"/>
              <a:t>Speaker Notes:</a:t>
            </a:r>
          </a:p>
          <a:p>
            <a:endParaRPr lang="en-IN" sz="1500" b="1" dirty="0"/>
          </a:p>
          <a:p>
            <a:pPr marL="285750" indent="-285750">
              <a:buFont typeface="Arial" panose="020B0604020202020204" pitchFamily="34" charset="0"/>
              <a:buChar char="•"/>
            </a:pPr>
            <a:r>
              <a:rPr lang="en-IN" sz="1500" dirty="0"/>
              <a:t>"Moving to Slide 2, our project is built around the IBM </a:t>
            </a:r>
            <a:r>
              <a:rPr lang="en-IN" sz="1500" dirty="0" err="1"/>
              <a:t>SkillsBuild</a:t>
            </a:r>
            <a:r>
              <a:rPr lang="en-IN" sz="1500" dirty="0"/>
              <a:t> and AICTE problem statement focusing on SDG 3.1—reducing the global maternal mortality ratio to below 70 per 100,000 live births by 2030. The core challenge we address is that public health data is massive, complex, and filled with mixed metrics. Stakeholders shouldn't need a data science background just to figure out if public health indicators are improving or where coverage gaps lie."</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369791"/>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713469"/>
            <a:ext cx="10996496" cy="6324808"/>
          </a:xfrm>
          <a:prstGeom prst="rect">
            <a:avLst/>
          </a:prstGeom>
          <a:noFill/>
        </p:spPr>
        <p:txBody>
          <a:bodyPr wrap="square" rtlCol="0">
            <a:spAutoFit/>
          </a:bodyPr>
          <a:lstStyle/>
          <a:p>
            <a:r>
              <a:rPr lang="en-IN" sz="1500" b="1" dirty="0"/>
              <a:t>Proposed Solution: AI-Powered Maternal Health Analytics Platform</a:t>
            </a:r>
            <a:r>
              <a:rPr lang="en-IN" sz="1500" dirty="0"/>
              <a:t> :</a:t>
            </a:r>
          </a:p>
          <a:p>
            <a:endParaRPr lang="en-IN" sz="1500" dirty="0"/>
          </a:p>
          <a:p>
            <a:r>
              <a:rPr lang="en-IN" sz="1500" dirty="0"/>
              <a:t>The proposed solution is </a:t>
            </a:r>
            <a:r>
              <a:rPr lang="en-IN" sz="1500" b="1" dirty="0" err="1"/>
              <a:t>MaternaLens</a:t>
            </a:r>
            <a:r>
              <a:rPr lang="en-IN" sz="1500" b="1" dirty="0"/>
              <a:t> AI</a:t>
            </a:r>
            <a:r>
              <a:rPr lang="en-IN" sz="1500" dirty="0"/>
              <a:t>, an intelligent maternal-health analytics platform built using </a:t>
            </a:r>
            <a:r>
              <a:rPr lang="en-IN" sz="1500" dirty="0" err="1"/>
              <a:t>Streamlit</a:t>
            </a:r>
            <a:r>
              <a:rPr lang="en-IN" sz="1500" dirty="0"/>
              <a:t>, Python, and IBM watsonx.ai to provide automated data interpretation and actionable insights for tracking SDG 3.1 progress. The system addresses challenges in interpreting complex public health datasets through a unified, intelligent architecture. </a:t>
            </a:r>
          </a:p>
          <a:p>
            <a:endParaRPr lang="en-IN" sz="1500" dirty="0"/>
          </a:p>
          <a:p>
            <a:r>
              <a:rPr lang="en-IN" sz="1500" dirty="0"/>
              <a:t>At its core, the solution uses a robust data pipeline and analytical engine to validate and process maternal health indicators from official sources, such as the Government of India SDG dataset. The system dynamically computes critical metrics—including Maternal Mortality Ratio (MMR) trends, SDG target gaps, and healthcare coverage discrepancies—before passing these structured calculations to an AI model for natural-language interpretation. </a:t>
            </a:r>
          </a:p>
          <a:p>
            <a:endParaRPr lang="en-IN" sz="1500" dirty="0"/>
          </a:p>
          <a:p>
            <a:r>
              <a:rPr lang="en-IN" sz="1500" dirty="0"/>
              <a:t>The system consists of integrated analytical and AI components: </a:t>
            </a:r>
          </a:p>
          <a:p>
            <a:pPr marL="285750" lvl="0" indent="-285750">
              <a:buFont typeface="Arial" panose="020B0604020202020204" pitchFamily="34" charset="0"/>
              <a:buChar char="•"/>
            </a:pPr>
            <a:r>
              <a:rPr lang="en-IN" sz="1500" b="1" dirty="0"/>
              <a:t>Automated Data Validator:</a:t>
            </a:r>
            <a:r>
              <a:rPr lang="en-IN" sz="1500" dirty="0"/>
              <a:t> Ingests datasets, detects column aliases (e.g., location, time, indicators), and ensures data quality by checking for missing values and numeric viability. </a:t>
            </a:r>
          </a:p>
          <a:p>
            <a:pPr marL="285750" lvl="0" indent="-285750">
              <a:buFont typeface="Arial" panose="020B0604020202020204" pitchFamily="34" charset="0"/>
              <a:buChar char="•"/>
            </a:pPr>
            <a:r>
              <a:rPr lang="en-IN" sz="1500" b="1" dirty="0"/>
              <a:t>Statistical Analysis Engine:</a:t>
            </a:r>
            <a:r>
              <a:rPr lang="en-IN" sz="1500" dirty="0"/>
              <a:t> Calculates MMR reductions and target gaps, while dynamically checking analytical readiness (e.g., intentionally disabling geographic correlation if only one location exists to avoid misleading statistics). </a:t>
            </a:r>
          </a:p>
          <a:p>
            <a:pPr marL="285750" lvl="0" indent="-285750">
              <a:buFont typeface="Arial" panose="020B0604020202020204" pitchFamily="34" charset="0"/>
              <a:buChar char="•"/>
            </a:pPr>
            <a:r>
              <a:rPr lang="en-IN" sz="1500" b="1" dirty="0"/>
              <a:t>Visual Analytics Dashboard:</a:t>
            </a:r>
            <a:r>
              <a:rPr lang="en-IN" sz="1500" dirty="0"/>
              <a:t> A user-friendly interface built with </a:t>
            </a:r>
            <a:r>
              <a:rPr lang="en-IN" sz="1500" dirty="0" err="1"/>
              <a:t>Streamlit</a:t>
            </a:r>
            <a:r>
              <a:rPr lang="en-IN" sz="1500" dirty="0"/>
              <a:t> that visualizes metric distributions, MMR trends, data cubes, and analytical heatmaps. </a:t>
            </a:r>
          </a:p>
          <a:p>
            <a:pPr marL="285750" lvl="0" indent="-285750">
              <a:buFont typeface="Arial" panose="020B0604020202020204" pitchFamily="34" charset="0"/>
              <a:buChar char="•"/>
            </a:pPr>
            <a:r>
              <a:rPr lang="en-IN" sz="1500" b="1" dirty="0"/>
              <a:t>AI Interpretation &amp; Q&amp;A Engine:</a:t>
            </a:r>
            <a:r>
              <a:rPr lang="en-IN" sz="1500" dirty="0"/>
              <a:t> Translates deterministic statistical calculations into natural-language insights and allows users to ask conversational questions about the dataset. </a:t>
            </a:r>
          </a:p>
          <a:p>
            <a:pPr marL="285750" indent="-285750">
              <a:buFont typeface="Arial" panose="020B0604020202020204" pitchFamily="34" charset="0"/>
              <a:buChar char="•"/>
            </a:pPr>
            <a:r>
              <a:rPr lang="en-IN" sz="1500" dirty="0"/>
              <a:t>Python and </a:t>
            </a:r>
            <a:r>
              <a:rPr lang="en-IN" sz="1500" dirty="0" err="1"/>
              <a:t>Streamlit</a:t>
            </a:r>
            <a:r>
              <a:rPr lang="en-IN" sz="1500" dirty="0"/>
              <a:t> orchestrate the application workflow, while </a:t>
            </a:r>
            <a:r>
              <a:rPr lang="en-IN" sz="1500" b="1" dirty="0"/>
              <a:t>IBM watsonx.ai</a:t>
            </a:r>
            <a:r>
              <a:rPr lang="en-IN" sz="1500" dirty="0"/>
              <a:t> provides the cloud infrastructure for AI inference. The </a:t>
            </a:r>
            <a:r>
              <a:rPr lang="en-IN" sz="1500" b="1" dirty="0"/>
              <a:t>Meta Llama 3.3 70B Instruct</a:t>
            </a:r>
            <a:r>
              <a:rPr lang="en-IN" sz="1500" dirty="0"/>
              <a:t> model powers the contextual interpretation, ensuring that all AI outputs are strictly grounded in the derived data rather than raw dataset hallucinations. </a:t>
            </a:r>
          </a:p>
          <a:p>
            <a:endParaRPr lang="en-IN" sz="1500" dirty="0"/>
          </a:p>
          <a:p>
            <a:r>
              <a:rPr lang="en-IN" sz="1500" dirty="0"/>
              <a:t>Overall, </a:t>
            </a:r>
            <a:r>
              <a:rPr lang="en-IN" sz="1500" dirty="0" err="1"/>
              <a:t>MaternaLens</a:t>
            </a:r>
            <a:r>
              <a:rPr lang="en-IN" sz="1500" dirty="0"/>
              <a:t> AI delivers an end-to-end decision-support tool that transforms raw maternal-health data into understandable evidence, enabling researchers and policymakers to effectively track SDG 3.1 targets. </a:t>
            </a:r>
            <a:endParaRPr lang="en-US" sz="1500" dirty="0"/>
          </a:p>
          <a:p>
            <a:endParaRPr lang="en-IN" sz="15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251804"/>
            <a:ext cx="7214616" cy="461665"/>
          </a:xfrm>
          <a:prstGeom prst="rect">
            <a:avLst/>
          </a:prstGeom>
          <a:noFill/>
        </p:spPr>
        <p:txBody>
          <a:bodyPr wrap="square" rtlCol="0">
            <a:spAutoFit/>
          </a:bodyPr>
          <a:lstStyle/>
          <a:p>
            <a:r>
              <a:rPr lang="en-US" sz="2400" b="1" dirty="0"/>
              <a:t>Proposed Solution</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396141"/>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lvl="2" indent="-285750">
              <a:buFont typeface="Arial" panose="020B0604020202020204" pitchFamily="34" charset="0"/>
              <a:buChar char="•"/>
            </a:pPr>
            <a:r>
              <a:rPr lang="en-IN" sz="1800" b="1" dirty="0" err="1"/>
              <a:t>Streamlit</a:t>
            </a:r>
            <a:r>
              <a:rPr lang="en-IN" sz="1800" b="1" dirty="0"/>
              <a:t> &amp; Python</a:t>
            </a:r>
            <a:r>
              <a:rPr lang="en-IN" sz="1800" dirty="0"/>
              <a:t> – For designing and building the interactive, web-based analytical dashboard and user interface. </a:t>
            </a:r>
          </a:p>
          <a:p>
            <a:pPr marL="285750" lvl="2" indent="-285750">
              <a:buFont typeface="Arial" panose="020B0604020202020204" pitchFamily="34" charset="0"/>
              <a:buChar char="•"/>
            </a:pPr>
            <a:r>
              <a:rPr lang="en-IN" sz="1800" b="1" dirty="0"/>
              <a:t>Meta Llama 3.3 70B Instruct</a:t>
            </a:r>
            <a:r>
              <a:rPr lang="en-IN" sz="1800" dirty="0"/>
              <a:t> – Accessed via IBM watsonx.ai for natural language understanding, reasoning, interpreting statistical maternal health data, and powering the conversational Q&amp;A feature. (Note: Granite models were explored, but Llama 3.3 70B was selected for optimal API inference compatibility in this environment.) </a:t>
            </a:r>
          </a:p>
          <a:p>
            <a:pPr marL="285750" lvl="2" indent="-285750">
              <a:buFont typeface="Arial" panose="020B0604020202020204" pitchFamily="34" charset="0"/>
              <a:buChar char="•"/>
            </a:pPr>
            <a:r>
              <a:rPr lang="en-IN" sz="1800" b="1" dirty="0"/>
              <a:t>IBM watsonx.ai &amp; IBM Cloud</a:t>
            </a:r>
            <a:r>
              <a:rPr lang="en-IN" sz="1800" dirty="0"/>
              <a:t> – Provides the cloud infrastructure (Studio Lite plan, Sydney region) and Python SDK to securely connect to foundation models and run AI inferences. </a:t>
            </a:r>
          </a:p>
          <a:p>
            <a:pPr marL="285750" lvl="2" indent="-285750">
              <a:buFont typeface="Arial" panose="020B0604020202020204" pitchFamily="34" charset="0"/>
              <a:buChar char="•"/>
            </a:pPr>
            <a:r>
              <a:rPr lang="en-IN" sz="1800" b="1" dirty="0"/>
              <a:t>Pandas, NumPy &amp; Scikit-learn</a:t>
            </a:r>
            <a:r>
              <a:rPr lang="en-IN" sz="1800" dirty="0"/>
              <a:t> – Forms the deterministic analytical engine used to load data, validate schemas, calculate MMR trends, and identify SDG target gaps before passing structured context to the AI. </a:t>
            </a:r>
          </a:p>
          <a:p>
            <a:pPr marL="285750" lvl="2" indent="-285750">
              <a:buFont typeface="Arial" panose="020B0604020202020204" pitchFamily="34" charset="0"/>
              <a:buChar char="•"/>
            </a:pPr>
            <a:r>
              <a:rPr lang="en-IN" sz="1800" b="1" dirty="0" err="1"/>
              <a:t>Plotly</a:t>
            </a:r>
            <a:r>
              <a:rPr lang="en-IN" sz="1800" b="1" dirty="0"/>
              <a:t> &amp; Matplotlib</a:t>
            </a:r>
            <a:r>
              <a:rPr lang="en-IN" sz="1800" dirty="0"/>
              <a:t> – For generating dynamic visual analytics, including MMR trend lines, indicator distributions, and data cube heatmaps. </a:t>
            </a:r>
          </a:p>
          <a:p>
            <a:pPr marL="285750" lvl="2" indent="-285750">
              <a:buFont typeface="Arial" panose="020B0604020202020204" pitchFamily="34" charset="0"/>
              <a:buChar char="•"/>
            </a:pPr>
            <a:r>
              <a:rPr lang="en-IN" sz="1800" b="1" dirty="0"/>
              <a:t>VS Code, Jupyter &amp; GitHub</a:t>
            </a:r>
            <a:r>
              <a:rPr lang="en-IN" sz="1800" dirty="0"/>
              <a:t> – Visual Studio Code and Python virtual environments were used for local development, Jupyter Notebooks for exploratory data analysis, and Git/GitHub for version control.</a:t>
            </a:r>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1276142"/>
            <a:ext cx="8823960" cy="6801862"/>
          </a:xfrm>
          <a:prstGeom prst="rect">
            <a:avLst/>
          </a:prstGeom>
          <a:noFill/>
        </p:spPr>
        <p:txBody>
          <a:bodyPr wrap="square" rtlCol="0">
            <a:spAutoFit/>
          </a:bodyPr>
          <a:lstStyle/>
          <a:p>
            <a:pPr marL="342900" lvl="0" indent="-342900">
              <a:buFont typeface="+mj-lt"/>
              <a:buAutoNum type="arabicPeriod"/>
            </a:pPr>
            <a:r>
              <a:rPr lang="en-IN" sz="1800" b="1" dirty="0"/>
              <a:t>Natural-Language Q&amp;A Input</a:t>
            </a:r>
            <a:r>
              <a:rPr lang="en-IN" sz="1800" dirty="0"/>
              <a:t> – An interactive chat interface where users can ask conversational questions about the maternal health dataset (e.g., "What is the latest MMR?" or "How much has MMR reduced?"). </a:t>
            </a:r>
          </a:p>
          <a:p>
            <a:pPr marL="342900" lvl="0" indent="-342900">
              <a:buFont typeface="+mj-lt"/>
              <a:buAutoNum type="arabicPeriod"/>
            </a:pPr>
            <a:r>
              <a:rPr lang="en-IN" sz="1800" b="1" dirty="0"/>
              <a:t>IBM watsonx.ai Integration</a:t>
            </a:r>
            <a:r>
              <a:rPr lang="en-IN" sz="1800" dirty="0"/>
              <a:t> – The AI engine that receives structured analytical context (such as calculated target gaps and metric reductions) to generate relevant, dataset-grounded interpretations. </a:t>
            </a:r>
          </a:p>
          <a:p>
            <a:pPr marL="342900" lvl="0" indent="-342900">
              <a:buFont typeface="+mj-lt"/>
              <a:buAutoNum type="arabicPeriod"/>
            </a:pPr>
            <a:r>
              <a:rPr lang="en-IN" sz="1800" b="1" dirty="0"/>
              <a:t>Foundation Model (Meta Llama 3.3 70B Instruct)</a:t>
            </a:r>
            <a:r>
              <a:rPr lang="en-IN" sz="1800" dirty="0"/>
              <a:t> – The specific model utilized through the IBM watsonx.ai API for reliable natural-language reasoning and insight generation. </a:t>
            </a:r>
          </a:p>
          <a:p>
            <a:pPr marL="342900" lvl="0" indent="-342900">
              <a:buFont typeface="+mj-lt"/>
              <a:buAutoNum type="arabicPeriod"/>
            </a:pPr>
            <a:r>
              <a:rPr lang="en-IN" sz="1800" b="1" dirty="0"/>
              <a:t>AI Insights Output</a:t>
            </a:r>
            <a:r>
              <a:rPr lang="en-IN" sz="1800" dirty="0"/>
              <a:t> – Displays a combination of deterministic analytical calculations and AI-generated text, clearly explaining maternal health metrics and progress toward the SDG 3.1 target. </a:t>
            </a:r>
          </a:p>
          <a:p>
            <a:pPr marL="342900" lvl="0" indent="-342900">
              <a:buFont typeface="+mj-lt"/>
              <a:buAutoNum type="arabicPeriod"/>
            </a:pPr>
            <a:r>
              <a:rPr lang="en-IN" sz="1800" b="1" dirty="0"/>
              <a:t>Data Uploader &amp; Validation Component</a:t>
            </a:r>
            <a:r>
              <a:rPr lang="en-IN" sz="1800" dirty="0"/>
              <a:t> – Handles the ingestion of both the built-in dataset (SDG-3-1-DATA-GOV.csv) and user-uploaded files, executing automated schema detection and checking for missing values. </a:t>
            </a:r>
          </a:p>
          <a:p>
            <a:pPr marL="342900" lvl="0" indent="-342900">
              <a:buFont typeface="+mj-lt"/>
              <a:buAutoNum type="arabicPeriod"/>
            </a:pPr>
            <a:r>
              <a:rPr lang="en-IN" sz="1800" b="1" dirty="0"/>
              <a:t>Analytical Engine &amp; Visual Dashboard</a:t>
            </a:r>
            <a:r>
              <a:rPr lang="en-IN" sz="1800" dirty="0"/>
              <a:t> – A </a:t>
            </a:r>
            <a:r>
              <a:rPr lang="en-IN" sz="1800" dirty="0" err="1"/>
              <a:t>Streamlit</a:t>
            </a:r>
            <a:r>
              <a:rPr lang="en-IN" sz="1800" dirty="0"/>
              <a:t>-based interface leveraging Pandas and </a:t>
            </a:r>
            <a:r>
              <a:rPr lang="en-IN" sz="1800" dirty="0" err="1"/>
              <a:t>Plotly</a:t>
            </a:r>
            <a:r>
              <a:rPr lang="en-IN" sz="1800" dirty="0"/>
              <a:t> to calculate MMR trends, coverage gaps, and render visual data cubes and heatmaps without requiring manual data inspection. </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7" name="Picture 6">
            <a:extLst>
              <a:ext uri="{FF2B5EF4-FFF2-40B4-BE49-F238E27FC236}">
                <a16:creationId xmlns:a16="http://schemas.microsoft.com/office/drawing/2014/main" id="{DB65DBB6-004D-0EDB-EB55-39801E687CD6}"/>
              </a:ext>
            </a:extLst>
          </p:cNvPr>
          <p:cNvPicPr>
            <a:picLocks noChangeAspect="1"/>
          </p:cNvPicPr>
          <p:nvPr/>
        </p:nvPicPr>
        <p:blipFill>
          <a:blip r:embed="rId3"/>
          <a:stretch>
            <a:fillRect/>
          </a:stretch>
        </p:blipFill>
        <p:spPr>
          <a:xfrm>
            <a:off x="198824" y="988391"/>
            <a:ext cx="11855524" cy="561888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B7A2283F-8DF1-2C61-DC97-16059B9E53CB}"/>
              </a:ext>
            </a:extLst>
          </p:cNvPr>
          <p:cNvPicPr>
            <a:picLocks noChangeAspect="1"/>
          </p:cNvPicPr>
          <p:nvPr/>
        </p:nvPicPr>
        <p:blipFill>
          <a:blip r:embed="rId3"/>
          <a:stretch>
            <a:fillRect/>
          </a:stretch>
        </p:blipFill>
        <p:spPr>
          <a:xfrm>
            <a:off x="245806" y="865238"/>
            <a:ext cx="11769213" cy="57715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9458632" y="1167493"/>
            <a:ext cx="256779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385817" y="865693"/>
            <a:ext cx="8944995" cy="5909310"/>
          </a:xfrm>
          <a:prstGeom prst="rect">
            <a:avLst/>
          </a:prstGeom>
          <a:noFill/>
        </p:spPr>
        <p:txBody>
          <a:bodyPr wrap="square" rtlCol="0">
            <a:spAutoFit/>
          </a:bodyPr>
          <a:lstStyle/>
          <a:p>
            <a:r>
              <a:rPr lang="en-IN" sz="1350" b="1" dirty="0"/>
              <a:t>Role of Agentic AI in </a:t>
            </a:r>
            <a:r>
              <a:rPr lang="en-IN" sz="1350" b="1" dirty="0" err="1"/>
              <a:t>MaternaLens</a:t>
            </a:r>
            <a:r>
              <a:rPr lang="en-IN" sz="1350" b="1" dirty="0"/>
              <a:t> AI</a:t>
            </a:r>
          </a:p>
          <a:p>
            <a:endParaRPr lang="en-IN" sz="1350" b="1" dirty="0"/>
          </a:p>
          <a:p>
            <a:r>
              <a:rPr lang="en-IN" sz="1350" b="1" dirty="0"/>
              <a:t>Agentic AI</a:t>
            </a:r>
            <a:r>
              <a:rPr lang="en-IN" sz="1350" dirty="0"/>
              <a:t> enables </a:t>
            </a:r>
            <a:r>
              <a:rPr lang="en-IN" sz="1350" dirty="0" err="1"/>
              <a:t>MaternaLens</a:t>
            </a:r>
            <a:r>
              <a:rPr lang="en-IN" sz="1350" dirty="0"/>
              <a:t> AI to function as an intelligent, data-driven system rather than a simple data visualization tool. Using </a:t>
            </a:r>
            <a:r>
              <a:rPr lang="en-IN" sz="1350" b="1" dirty="0"/>
              <a:t>IBM watsonx.ai</a:t>
            </a:r>
            <a:r>
              <a:rPr lang="en-IN" sz="1350" dirty="0"/>
              <a:t> and </a:t>
            </a:r>
            <a:r>
              <a:rPr lang="en-IN" sz="1350" b="1" dirty="0"/>
              <a:t>Meta Llama 3.3 70B Instruct</a:t>
            </a:r>
            <a:r>
              <a:rPr lang="en-IN" sz="1350" dirty="0"/>
              <a:t>, it combines automated data validation, analytical processing, visualization, AI interpretation, and natural-language Q&amp;A to help users understand maternal-health data and track progress toward </a:t>
            </a:r>
            <a:r>
              <a:rPr lang="en-IN" sz="1350" b="1" dirty="0"/>
              <a:t>SDG 3.1</a:t>
            </a:r>
            <a:r>
              <a:rPr lang="en-IN" sz="1350" dirty="0"/>
              <a:t>.</a:t>
            </a:r>
          </a:p>
          <a:p>
            <a:endParaRPr lang="en-IN" sz="1350" dirty="0"/>
          </a:p>
          <a:p>
            <a:r>
              <a:rPr lang="en-IN" sz="1350" dirty="0"/>
              <a:t>Each component performs a specific role—such as loading datasets, validating data, detecting important columns and indicators, </a:t>
            </a:r>
            <a:r>
              <a:rPr lang="en-IN" sz="1350" dirty="0" err="1"/>
              <a:t>analyzing</a:t>
            </a:r>
            <a:r>
              <a:rPr lang="en-IN" sz="1350" dirty="0"/>
              <a:t> maternal mortality trends, calculating target gaps, </a:t>
            </a:r>
            <a:r>
              <a:rPr lang="en-IN" sz="1350" dirty="0" err="1"/>
              <a:t>analyzing</a:t>
            </a:r>
            <a:r>
              <a:rPr lang="en-IN" sz="1350" dirty="0"/>
              <a:t> coverage indicators, and generating visual insights. These components work together to provide a structured and efficient analytical workflow.</a:t>
            </a:r>
          </a:p>
          <a:p>
            <a:endParaRPr lang="en-IN" sz="1350" dirty="0"/>
          </a:p>
          <a:p>
            <a:r>
              <a:rPr lang="en-IN" sz="1350" dirty="0"/>
              <a:t>Agentic AI also brings </a:t>
            </a:r>
            <a:r>
              <a:rPr lang="en-IN" sz="1350" b="1" dirty="0"/>
              <a:t>context awareness</a:t>
            </a:r>
            <a:r>
              <a:rPr lang="en-IN" sz="1350" dirty="0"/>
              <a:t> by using structured information derived from the dataset, such as MMR values, the latest MMR, initial MMR, SDG target, target gap, reduction, coverage indicators, and dataset statistics. This information is provided to the AI model so that the generated insights remain grounded in the available dataset.</a:t>
            </a:r>
          </a:p>
          <a:p>
            <a:endParaRPr lang="en-IN" sz="1350" dirty="0"/>
          </a:p>
          <a:p>
            <a:r>
              <a:rPr lang="en-IN" sz="1350" dirty="0"/>
              <a:t>The system also supports </a:t>
            </a:r>
            <a:r>
              <a:rPr lang="en-IN" sz="1350" b="1" dirty="0"/>
              <a:t>adaptive analysis</a:t>
            </a:r>
            <a:r>
              <a:rPr lang="en-IN" sz="1350" dirty="0"/>
              <a:t> based on the characteristics of the uploaded dataset. It checks whether sufficient information is available before performing certain analytical methods. For example, correlation analysis is not applied when only one geographic location is available, preventing statistically misleading results.</a:t>
            </a:r>
          </a:p>
          <a:p>
            <a:endParaRPr lang="en-IN" sz="1350" dirty="0"/>
          </a:p>
          <a:p>
            <a:r>
              <a:rPr lang="en-IN" sz="1350" dirty="0"/>
              <a:t>Additionally, </a:t>
            </a:r>
            <a:r>
              <a:rPr lang="en-IN" sz="1350" dirty="0" err="1"/>
              <a:t>MaternaLens</a:t>
            </a:r>
            <a:r>
              <a:rPr lang="en-IN" sz="1350" dirty="0"/>
              <a:t> AI combines </a:t>
            </a:r>
            <a:r>
              <a:rPr lang="en-IN" sz="1350" b="1" dirty="0"/>
              <a:t>deterministic analytical calculations with AI-generated interpretation</a:t>
            </a:r>
            <a:r>
              <a:rPr lang="en-IN" sz="1350" dirty="0"/>
              <a:t>. Important factual questions can be handled through analytical logic, while broader questions can use IBM watsonx.ai to generate dataset-grounded responses through the natural-language Q&amp;A feature.</a:t>
            </a:r>
          </a:p>
          <a:p>
            <a:endParaRPr lang="en-IN" sz="1350" dirty="0"/>
          </a:p>
          <a:p>
            <a:r>
              <a:rPr lang="en-IN" sz="1350" dirty="0"/>
              <a:t>Overall, Agentic AI makes </a:t>
            </a:r>
            <a:r>
              <a:rPr lang="en-IN" sz="1350" dirty="0" err="1"/>
              <a:t>MaternaLens</a:t>
            </a:r>
            <a:r>
              <a:rPr lang="en-IN" sz="1350" dirty="0"/>
              <a:t> AI </a:t>
            </a:r>
            <a:r>
              <a:rPr lang="en-IN" sz="1350" b="1" dirty="0"/>
              <a:t>intelligent, context-aware, adaptive, and goal-driven</a:t>
            </a:r>
            <a:r>
              <a:rPr lang="en-IN" sz="1350" dirty="0"/>
              <a:t>, transforming complex maternal-health datasets into understandable insights that help users track progress, identify gaps, and support </a:t>
            </a:r>
            <a:r>
              <a:rPr lang="en-IN" sz="1350" b="1" dirty="0"/>
              <a:t>SDG 3.1 decision-making</a:t>
            </a:r>
            <a:r>
              <a:rPr lang="en-IN" sz="135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10,261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6" name="Picture 5">
            <a:extLst>
              <a:ext uri="{FF2B5EF4-FFF2-40B4-BE49-F238E27FC236}">
                <a16:creationId xmlns:a16="http://schemas.microsoft.com/office/drawing/2014/main" id="{EE74B8A2-03B5-C342-F08F-3366A0BEE78D}"/>
              </a:ext>
            </a:extLst>
          </p:cNvPr>
          <p:cNvPicPr>
            <a:picLocks noChangeAspect="1"/>
          </p:cNvPicPr>
          <p:nvPr/>
        </p:nvPicPr>
        <p:blipFill>
          <a:blip r:embed="rId3"/>
          <a:stretch>
            <a:fillRect/>
          </a:stretch>
        </p:blipFill>
        <p:spPr>
          <a:xfrm>
            <a:off x="6217823" y="2196834"/>
            <a:ext cx="5673212" cy="4023973"/>
          </a:xfrm>
          <a:prstGeom prst="rect">
            <a:avLst/>
          </a:prstGeom>
        </p:spPr>
      </p:pic>
      <p:pic>
        <p:nvPicPr>
          <p:cNvPr id="8" name="Picture 7">
            <a:extLst>
              <a:ext uri="{FF2B5EF4-FFF2-40B4-BE49-F238E27FC236}">
                <a16:creationId xmlns:a16="http://schemas.microsoft.com/office/drawing/2014/main" id="{CA78E808-B69A-F0E2-0691-7654995CF218}"/>
              </a:ext>
            </a:extLst>
          </p:cNvPr>
          <p:cNvPicPr>
            <a:picLocks noChangeAspect="1"/>
          </p:cNvPicPr>
          <p:nvPr/>
        </p:nvPicPr>
        <p:blipFill>
          <a:blip r:embed="rId4"/>
          <a:stretch>
            <a:fillRect/>
          </a:stretch>
        </p:blipFill>
        <p:spPr>
          <a:xfrm>
            <a:off x="300965" y="2269071"/>
            <a:ext cx="5564023" cy="387950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15124" y="160168"/>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15124" y="757315"/>
            <a:ext cx="11660566" cy="5863144"/>
          </a:xfrm>
          <a:prstGeom prst="rect">
            <a:avLst/>
          </a:prstGeom>
          <a:noFill/>
        </p:spPr>
        <p:txBody>
          <a:bodyPr wrap="square" rtlCol="0">
            <a:spAutoFit/>
          </a:bodyPr>
          <a:lstStyle/>
          <a:p>
            <a:r>
              <a:rPr lang="en-IN" sz="1500" b="1" dirty="0"/>
              <a:t>What Makes </a:t>
            </a:r>
            <a:r>
              <a:rPr lang="en-IN" sz="1500" b="1" dirty="0" err="1"/>
              <a:t>MaternaLens</a:t>
            </a:r>
            <a:r>
              <a:rPr lang="en-IN" sz="1500" b="1" dirty="0"/>
              <a:t> AI Stand Out</a:t>
            </a:r>
          </a:p>
          <a:p>
            <a:endParaRPr lang="en-IN" sz="1500" dirty="0"/>
          </a:p>
          <a:p>
            <a:r>
              <a:rPr lang="en-IN" sz="1500" dirty="0"/>
              <a:t>The proposed </a:t>
            </a:r>
            <a:r>
              <a:rPr lang="en-IN" sz="1500" b="1" dirty="0" err="1"/>
              <a:t>MaternaLens</a:t>
            </a:r>
            <a:r>
              <a:rPr lang="en-IN" sz="1500" b="1" dirty="0"/>
              <a:t> AI</a:t>
            </a:r>
            <a:r>
              <a:rPr lang="en-IN" sz="1500" dirty="0"/>
              <a:t> stands out by combining </a:t>
            </a:r>
            <a:r>
              <a:rPr lang="en-IN" sz="1500" b="1" dirty="0"/>
              <a:t>automated data validation, analytical intelligence, visualization, AI interpretation, and natural-language Q&amp;A</a:t>
            </a:r>
            <a:r>
              <a:rPr lang="en-IN" sz="1500" dirty="0"/>
              <a:t> into a single maternal-health analytics platform.</a:t>
            </a:r>
          </a:p>
          <a:p>
            <a:endParaRPr lang="en-IN" sz="1500" b="1" dirty="0"/>
          </a:p>
          <a:p>
            <a:pPr marL="285750" indent="-285750">
              <a:buFont typeface="Arial" panose="020B0604020202020204" pitchFamily="34" charset="0"/>
              <a:buChar char="•"/>
            </a:pPr>
            <a:r>
              <a:rPr lang="en-IN" sz="1500" b="1" dirty="0"/>
              <a:t>Automated Data Validation</a:t>
            </a:r>
            <a:r>
              <a:rPr lang="en-IN" sz="1500" dirty="0"/>
              <a:t> – Validates datasets by checking structure, missing values, duplicate records, numeric-compatible values, important columns, and SDG 3.1-related information.</a:t>
            </a:r>
            <a:endParaRPr lang="en-IN" sz="1500" b="1" dirty="0"/>
          </a:p>
          <a:p>
            <a:pPr marL="285750" indent="-285750">
              <a:buFont typeface="Arial" panose="020B0604020202020204" pitchFamily="34" charset="0"/>
              <a:buChar char="•"/>
            </a:pPr>
            <a:r>
              <a:rPr lang="en-IN" sz="1500" b="1" dirty="0"/>
              <a:t>Intelligent Data Analysis</a:t>
            </a:r>
            <a:r>
              <a:rPr lang="en-IN" sz="1500" dirty="0"/>
              <a:t> – Automatically </a:t>
            </a:r>
            <a:r>
              <a:rPr lang="en-IN" sz="1500" dirty="0" err="1"/>
              <a:t>analyzes</a:t>
            </a:r>
            <a:r>
              <a:rPr lang="en-IN" sz="1500" dirty="0"/>
              <a:t> MMR trends, target gaps, maternal-health coverage indicators, distributions, and other analytical characteristics based on the available data.</a:t>
            </a:r>
            <a:endParaRPr lang="en-IN" sz="1500" b="1" dirty="0"/>
          </a:p>
          <a:p>
            <a:pPr marL="285750" indent="-285750">
              <a:buFont typeface="Arial" panose="020B0604020202020204" pitchFamily="34" charset="0"/>
              <a:buChar char="•"/>
            </a:pPr>
            <a:r>
              <a:rPr lang="en-IN" sz="1500" b="1" dirty="0"/>
              <a:t>Context-Aware AI Interpretation</a:t>
            </a:r>
            <a:r>
              <a:rPr lang="en-IN" sz="1500" dirty="0"/>
              <a:t> – Uses structured analytical information such as MMR values, target gaps, coverage indicators, and dataset statistics as context for generating relevant, dataset-grounded insights.</a:t>
            </a:r>
            <a:endParaRPr lang="en-IN" sz="1500" b="1" dirty="0"/>
          </a:p>
          <a:p>
            <a:pPr marL="285750" indent="-285750">
              <a:buFont typeface="Arial" panose="020B0604020202020204" pitchFamily="34" charset="0"/>
              <a:buChar char="•"/>
            </a:pPr>
            <a:r>
              <a:rPr lang="en-IN" sz="1500" b="1" dirty="0"/>
              <a:t>Analytical Readiness</a:t>
            </a:r>
            <a:r>
              <a:rPr lang="en-IN" sz="1500" dirty="0"/>
              <a:t> – Does not blindly apply statistical methods. The system checks whether the available dataset supports an analysis. For example, correlation is not applied when only one geographic location is available.</a:t>
            </a:r>
            <a:endParaRPr lang="en-IN" sz="1500" b="1" dirty="0"/>
          </a:p>
          <a:p>
            <a:pPr marL="285750" indent="-285750">
              <a:buFont typeface="Arial" panose="020B0604020202020204" pitchFamily="34" charset="0"/>
              <a:buChar char="•"/>
            </a:pPr>
            <a:r>
              <a:rPr lang="en-IN" sz="1500" b="1" dirty="0"/>
              <a:t>Interactive Visualization</a:t>
            </a:r>
            <a:r>
              <a:rPr lang="en-IN" sz="1500" dirty="0"/>
              <a:t> – Provides dashboards, MMR trend charts, target-progress visualizations, indicator comparisons, distributions, data cubes, and heatmaps to make complex datasets easier to understand.</a:t>
            </a:r>
            <a:endParaRPr lang="en-IN" sz="1500" b="1" dirty="0"/>
          </a:p>
          <a:p>
            <a:pPr marL="285750" indent="-285750">
              <a:buFont typeface="Arial" panose="020B0604020202020204" pitchFamily="34" charset="0"/>
              <a:buChar char="•"/>
            </a:pPr>
            <a:r>
              <a:rPr lang="en-IN" sz="1500" b="1" dirty="0"/>
              <a:t>Natural-Language Q&amp;A</a:t>
            </a:r>
            <a:r>
              <a:rPr lang="en-IN" sz="1500" dirty="0"/>
              <a:t> – Allows users to ask questions such as the latest MMR, MMR reduction, SDG 3.1 target, number of records, and maternal-health coverage directly through the application.</a:t>
            </a:r>
            <a:endParaRPr lang="en-IN" sz="1500" b="1" dirty="0"/>
          </a:p>
          <a:p>
            <a:pPr marL="285750" indent="-285750">
              <a:buFont typeface="Arial" panose="020B0604020202020204" pitchFamily="34" charset="0"/>
              <a:buChar char="•"/>
            </a:pPr>
            <a:r>
              <a:rPr lang="en-IN" sz="1500" b="1" dirty="0"/>
              <a:t>IBM watsonx.ai Integration</a:t>
            </a:r>
            <a:r>
              <a:rPr lang="en-IN" sz="1500" dirty="0"/>
              <a:t> – Uses </a:t>
            </a:r>
            <a:r>
              <a:rPr lang="en-IN" sz="1500" b="1" dirty="0"/>
              <a:t>IBM watsonx.ai</a:t>
            </a:r>
            <a:r>
              <a:rPr lang="en-IN" sz="1500" dirty="0"/>
              <a:t> with </a:t>
            </a:r>
            <a:r>
              <a:rPr lang="en-IN" sz="1500" b="1" dirty="0"/>
              <a:t>Meta Llama 3.3 70B Instruct</a:t>
            </a:r>
            <a:r>
              <a:rPr lang="en-IN" sz="1500" dirty="0"/>
              <a:t> to generate dataset-grounded AI interpretations. The AI complements deterministic analytical calculations rather than replacing them.</a:t>
            </a:r>
            <a:endParaRPr lang="en-IN" sz="1500" b="1" dirty="0"/>
          </a:p>
          <a:p>
            <a:pPr marL="285750" indent="-285750">
              <a:buFont typeface="Arial" panose="020B0604020202020204" pitchFamily="34" charset="0"/>
              <a:buChar char="•"/>
            </a:pPr>
            <a:r>
              <a:rPr lang="en-IN" sz="1500" b="1" dirty="0"/>
              <a:t>Flexible Dataset Support</a:t>
            </a:r>
            <a:r>
              <a:rPr lang="en-IN" sz="1500" dirty="0"/>
              <a:t> – Supports both the built-in Government of India's SDG dataset and user-uploaded datasets, with the same validation, detection, analysis, visualization, and AI pipeline.</a:t>
            </a:r>
          </a:p>
          <a:p>
            <a:pPr marL="285750" indent="-285750">
              <a:buFont typeface="Arial" panose="020B0604020202020204" pitchFamily="34" charset="0"/>
              <a:buChar char="•"/>
            </a:pPr>
            <a:endParaRPr lang="en-IN" sz="1500" dirty="0"/>
          </a:p>
          <a:p>
            <a:r>
              <a:rPr lang="en-IN" sz="1500" dirty="0"/>
              <a:t>This makes </a:t>
            </a:r>
            <a:r>
              <a:rPr lang="en-IN" sz="1500" b="1" dirty="0" err="1"/>
              <a:t>MaternaLens</a:t>
            </a:r>
            <a:r>
              <a:rPr lang="en-IN" sz="1500" b="1" dirty="0"/>
              <a:t> AI</a:t>
            </a:r>
            <a:r>
              <a:rPr lang="en-IN" sz="1500" dirty="0"/>
              <a:t> an intelligent, analytical, and user-friendly platform that transforms </a:t>
            </a:r>
            <a:r>
              <a:rPr lang="en-IN" sz="1500" b="1" dirty="0"/>
              <a:t>raw maternal-health data → understanding → evidence → insight</a:t>
            </a:r>
            <a:r>
              <a:rPr lang="en-IN" sz="1500" dirty="0"/>
              <a:t>, helping users track progress and identify gaps related to </a:t>
            </a:r>
            <a:r>
              <a:rPr lang="en-IN" sz="1500" b="1" dirty="0"/>
              <a:t>SDG 3.1</a:t>
            </a:r>
            <a:r>
              <a:rPr lang="en-IN" sz="1500" dirty="0"/>
              <a:t>.</a:t>
            </a:r>
          </a:p>
          <a:p>
            <a:endParaRPr lang="en-IN" sz="1500"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461640" y="92701"/>
            <a:ext cx="6444496" cy="704017"/>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400" b="1" dirty="0">
                <a:sym typeface="Times New Roman"/>
              </a:rPr>
              <a:t>	Main App Page</a:t>
            </a:r>
          </a:p>
        </p:txBody>
      </p:sp>
      <p:sp>
        <p:nvSpPr>
          <p:cNvPr id="279" name="Google Shape;279;p18">
            <a:extLst>
              <a:ext uri="{FF2B5EF4-FFF2-40B4-BE49-F238E27FC236}">
                <a16:creationId xmlns:a16="http://schemas.microsoft.com/office/drawing/2014/main" id="{3711AF54-94A6-B837-31EF-9A8C4ECB9AF6}"/>
              </a:ext>
            </a:extLst>
          </p:cNvPr>
          <p:cNvSpPr/>
          <p:nvPr/>
        </p:nvSpPr>
        <p:spPr>
          <a:xfrm>
            <a:off x="884903" y="1153712"/>
            <a:ext cx="9548401" cy="4784972"/>
          </a:xfrm>
          <a:prstGeom prst="rect">
            <a:avLst/>
          </a:prstGeom>
          <a:noFill/>
          <a:ln>
            <a:noFill/>
          </a:ln>
        </p:spPr>
        <p:txBody>
          <a:bodyPr spcFirstLastPara="1" wrap="square" lIns="0" tIns="0" rIns="0" bIns="0" anchor="t" anchorCtr="0">
            <a:noAutofit/>
          </a:bodyPr>
          <a:lstStyle/>
          <a:p>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76B9121-2BB3-3842-E73E-5F3170915056}"/>
              </a:ext>
            </a:extLst>
          </p:cNvPr>
          <p:cNvPicPr>
            <a:picLocks noChangeAspect="1"/>
          </p:cNvPicPr>
          <p:nvPr/>
        </p:nvPicPr>
        <p:blipFill>
          <a:blip r:embed="rId3"/>
          <a:stretch>
            <a:fillRect/>
          </a:stretch>
        </p:blipFill>
        <p:spPr>
          <a:xfrm>
            <a:off x="78658" y="692391"/>
            <a:ext cx="11818374" cy="5973879"/>
          </a:xfrm>
          <a:prstGeom prst="rect">
            <a:avLst/>
          </a:prstGeom>
        </p:spPr>
      </p:pic>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CB0080D5-D5B6-219C-051F-6CDFF64D4C9C}"/>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83EDB975-4347-420B-AA7D-C557ED948FE6}"/>
              </a:ext>
            </a:extLst>
          </p:cNvPr>
          <p:cNvSpPr/>
          <p:nvPr/>
        </p:nvSpPr>
        <p:spPr>
          <a:xfrm>
            <a:off x="461640" y="92701"/>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	AI Insights Page</a:t>
            </a:r>
            <a:endParaRPr sz="2400" b="1" dirty="0">
              <a:sym typeface="Times New Roman"/>
            </a:endParaRPr>
          </a:p>
        </p:txBody>
      </p:sp>
      <p:sp>
        <p:nvSpPr>
          <p:cNvPr id="279" name="Google Shape;279;p18">
            <a:extLst>
              <a:ext uri="{FF2B5EF4-FFF2-40B4-BE49-F238E27FC236}">
                <a16:creationId xmlns:a16="http://schemas.microsoft.com/office/drawing/2014/main" id="{BA5F9D4E-40E5-30CB-22E8-957D43400E1E}"/>
              </a:ext>
            </a:extLst>
          </p:cNvPr>
          <p:cNvSpPr/>
          <p:nvPr/>
        </p:nvSpPr>
        <p:spPr>
          <a:xfrm>
            <a:off x="884903" y="1153712"/>
            <a:ext cx="9548401" cy="4784972"/>
          </a:xfrm>
          <a:prstGeom prst="rect">
            <a:avLst/>
          </a:prstGeom>
          <a:noFill/>
          <a:ln>
            <a:noFill/>
          </a:ln>
        </p:spPr>
        <p:txBody>
          <a:bodyPr spcFirstLastPara="1" wrap="square" lIns="0" tIns="0" rIns="0" bIns="0" anchor="t" anchorCtr="0">
            <a:noAutofit/>
          </a:bodyPr>
          <a:lstStyle/>
          <a:p>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D7D52620-9038-7FB5-D199-D9E55BCB1A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8272D1B8-8678-A383-EC9E-4122308D096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A73E589-9159-DAC4-AAD1-A7D31A985FC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7AD7234-F0F6-8C1C-E238-7CCBC746B006}"/>
              </a:ext>
            </a:extLst>
          </p:cNvPr>
          <p:cNvPicPr>
            <a:picLocks noChangeAspect="1"/>
          </p:cNvPicPr>
          <p:nvPr/>
        </p:nvPicPr>
        <p:blipFill>
          <a:blip r:embed="rId3"/>
          <a:stretch>
            <a:fillRect/>
          </a:stretch>
        </p:blipFill>
        <p:spPr>
          <a:xfrm>
            <a:off x="196645" y="796718"/>
            <a:ext cx="11798709" cy="5849888"/>
          </a:xfrm>
          <a:prstGeom prst="rect">
            <a:avLst/>
          </a:prstGeom>
        </p:spPr>
      </p:pic>
    </p:spTree>
    <p:extLst>
      <p:ext uri="{BB962C8B-B14F-4D97-AF65-F5344CB8AC3E}">
        <p14:creationId xmlns:p14="http://schemas.microsoft.com/office/powerpoint/2010/main" val="444163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00D0A17-3EA0-6E66-B932-5E4617C33614}"/>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F63B083-3A27-8C6A-B00F-91C3D6589C46}"/>
              </a:ext>
            </a:extLst>
          </p:cNvPr>
          <p:cNvSpPr/>
          <p:nvPr/>
        </p:nvSpPr>
        <p:spPr>
          <a:xfrm>
            <a:off x="461640" y="92701"/>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Analytics Page</a:t>
            </a:r>
            <a:endParaRPr sz="2400" b="1" dirty="0">
              <a:sym typeface="Times New Roman"/>
            </a:endParaRPr>
          </a:p>
        </p:txBody>
      </p:sp>
      <p:sp>
        <p:nvSpPr>
          <p:cNvPr id="279" name="Google Shape;279;p18">
            <a:extLst>
              <a:ext uri="{FF2B5EF4-FFF2-40B4-BE49-F238E27FC236}">
                <a16:creationId xmlns:a16="http://schemas.microsoft.com/office/drawing/2014/main" id="{74D0F13D-38EF-8226-3FB7-184FD95EE81A}"/>
              </a:ext>
            </a:extLst>
          </p:cNvPr>
          <p:cNvSpPr/>
          <p:nvPr/>
        </p:nvSpPr>
        <p:spPr>
          <a:xfrm>
            <a:off x="884903" y="1153712"/>
            <a:ext cx="9548401" cy="4784972"/>
          </a:xfrm>
          <a:prstGeom prst="rect">
            <a:avLst/>
          </a:prstGeom>
          <a:noFill/>
          <a:ln>
            <a:noFill/>
          </a:ln>
        </p:spPr>
        <p:txBody>
          <a:bodyPr spcFirstLastPara="1" wrap="square" lIns="0" tIns="0" rIns="0" bIns="0" anchor="t" anchorCtr="0">
            <a:noAutofit/>
          </a:bodyPr>
          <a:lstStyle/>
          <a:p>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9A9139BA-0A7C-CBFC-C15F-2CAFAE5F3A6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255B3B5-2C31-A35F-C20E-A66E534A64C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FE37F34-86C1-5D67-3353-A5E5366DC0B4}"/>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E0ECF4F-2A3D-4A95-CD3C-4CEC1CAC6036}"/>
              </a:ext>
            </a:extLst>
          </p:cNvPr>
          <p:cNvPicPr>
            <a:picLocks noChangeAspect="1"/>
          </p:cNvPicPr>
          <p:nvPr/>
        </p:nvPicPr>
        <p:blipFill>
          <a:blip r:embed="rId3"/>
          <a:stretch>
            <a:fillRect/>
          </a:stretch>
        </p:blipFill>
        <p:spPr>
          <a:xfrm>
            <a:off x="122903" y="796718"/>
            <a:ext cx="11946194" cy="5692572"/>
          </a:xfrm>
          <a:prstGeom prst="rect">
            <a:avLst/>
          </a:prstGeom>
        </p:spPr>
      </p:pic>
    </p:spTree>
    <p:extLst>
      <p:ext uri="{BB962C8B-B14F-4D97-AF65-F5344CB8AC3E}">
        <p14:creationId xmlns:p14="http://schemas.microsoft.com/office/powerpoint/2010/main" val="1955852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3D8A481-E3A8-C225-1557-72AD5C254E3A}"/>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2B617C39-0F3D-E44E-91C3-7233BC6338FD}"/>
              </a:ext>
            </a:extLst>
          </p:cNvPr>
          <p:cNvSpPr/>
          <p:nvPr/>
        </p:nvSpPr>
        <p:spPr>
          <a:xfrm>
            <a:off x="461640" y="92701"/>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DashBoard</a:t>
            </a:r>
            <a:r>
              <a:rPr lang="en-US" sz="2400" b="1" dirty="0">
                <a:sym typeface="Times New Roman"/>
              </a:rPr>
              <a:t> Page</a:t>
            </a:r>
            <a:endParaRPr sz="2400" b="1" dirty="0">
              <a:sym typeface="Times New Roman"/>
            </a:endParaRPr>
          </a:p>
        </p:txBody>
      </p:sp>
      <p:sp>
        <p:nvSpPr>
          <p:cNvPr id="279" name="Google Shape;279;p18">
            <a:extLst>
              <a:ext uri="{FF2B5EF4-FFF2-40B4-BE49-F238E27FC236}">
                <a16:creationId xmlns:a16="http://schemas.microsoft.com/office/drawing/2014/main" id="{088EAED3-0563-10DF-1851-4F8DC3BEFB39}"/>
              </a:ext>
            </a:extLst>
          </p:cNvPr>
          <p:cNvSpPr/>
          <p:nvPr/>
        </p:nvSpPr>
        <p:spPr>
          <a:xfrm>
            <a:off x="884903" y="1153712"/>
            <a:ext cx="9548401" cy="4784972"/>
          </a:xfrm>
          <a:prstGeom prst="rect">
            <a:avLst/>
          </a:prstGeom>
          <a:noFill/>
          <a:ln>
            <a:noFill/>
          </a:ln>
        </p:spPr>
        <p:txBody>
          <a:bodyPr spcFirstLastPara="1" wrap="square" lIns="0" tIns="0" rIns="0" bIns="0" anchor="t" anchorCtr="0">
            <a:noAutofit/>
          </a:bodyPr>
          <a:lstStyle/>
          <a:p>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F96CA124-59C2-1197-D57D-06CDE1E2B65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E59E3B6-AFC9-5C71-175E-4AD64ADABA5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B0CADB1-6819-C9E4-B224-267C80659F11}"/>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2CBE204A-728A-0ED6-5296-BD7C3FDE09FF}"/>
              </a:ext>
            </a:extLst>
          </p:cNvPr>
          <p:cNvPicPr>
            <a:picLocks noChangeAspect="1"/>
          </p:cNvPicPr>
          <p:nvPr/>
        </p:nvPicPr>
        <p:blipFill>
          <a:blip r:embed="rId3"/>
          <a:stretch>
            <a:fillRect/>
          </a:stretch>
        </p:blipFill>
        <p:spPr>
          <a:xfrm>
            <a:off x="113709" y="731040"/>
            <a:ext cx="11090787" cy="5836907"/>
          </a:xfrm>
          <a:prstGeom prst="rect">
            <a:avLst/>
          </a:prstGeom>
        </p:spPr>
      </p:pic>
    </p:spTree>
    <p:extLst>
      <p:ext uri="{BB962C8B-B14F-4D97-AF65-F5344CB8AC3E}">
        <p14:creationId xmlns:p14="http://schemas.microsoft.com/office/powerpoint/2010/main" val="842865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E11CE7F-7763-96A5-C627-2EF8AEC5C344}"/>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4599174A-BAC0-47E6-5A7D-3BBD4094CB06}"/>
              </a:ext>
            </a:extLst>
          </p:cNvPr>
          <p:cNvSpPr/>
          <p:nvPr/>
        </p:nvSpPr>
        <p:spPr>
          <a:xfrm>
            <a:off x="461640" y="92701"/>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Data Explorer page</a:t>
            </a:r>
            <a:endParaRPr sz="2400" b="1" dirty="0">
              <a:sym typeface="Times New Roman"/>
            </a:endParaRPr>
          </a:p>
        </p:txBody>
      </p:sp>
      <p:sp>
        <p:nvSpPr>
          <p:cNvPr id="279" name="Google Shape;279;p18">
            <a:extLst>
              <a:ext uri="{FF2B5EF4-FFF2-40B4-BE49-F238E27FC236}">
                <a16:creationId xmlns:a16="http://schemas.microsoft.com/office/drawing/2014/main" id="{922783BE-F978-2BDF-B1F9-F0D4322428AF}"/>
              </a:ext>
            </a:extLst>
          </p:cNvPr>
          <p:cNvSpPr/>
          <p:nvPr/>
        </p:nvSpPr>
        <p:spPr>
          <a:xfrm>
            <a:off x="884903" y="1153712"/>
            <a:ext cx="9548401" cy="4784972"/>
          </a:xfrm>
          <a:prstGeom prst="rect">
            <a:avLst/>
          </a:prstGeom>
          <a:noFill/>
          <a:ln>
            <a:noFill/>
          </a:ln>
        </p:spPr>
        <p:txBody>
          <a:bodyPr spcFirstLastPara="1" wrap="square" lIns="0" tIns="0" rIns="0" bIns="0" anchor="t" anchorCtr="0">
            <a:noAutofit/>
          </a:bodyPr>
          <a:lstStyle/>
          <a:p>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D11812C2-2C6E-CF9E-D680-FCD861967F0A}"/>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9A3DA3C-53DC-07F0-1295-CE4DC630F44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97CB6A9-9C02-F185-F305-F08580F18A14}"/>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7E092E3-9135-8ADA-FB60-BFE92DC7ABCD}"/>
              </a:ext>
            </a:extLst>
          </p:cNvPr>
          <p:cNvPicPr>
            <a:picLocks noChangeAspect="1"/>
          </p:cNvPicPr>
          <p:nvPr/>
        </p:nvPicPr>
        <p:blipFill>
          <a:blip r:embed="rId3"/>
          <a:stretch>
            <a:fillRect/>
          </a:stretch>
        </p:blipFill>
        <p:spPr>
          <a:xfrm>
            <a:off x="176980" y="665456"/>
            <a:ext cx="11641394" cy="5971318"/>
          </a:xfrm>
          <a:prstGeom prst="rect">
            <a:avLst/>
          </a:prstGeom>
        </p:spPr>
      </p:pic>
    </p:spTree>
    <p:extLst>
      <p:ext uri="{BB962C8B-B14F-4D97-AF65-F5344CB8AC3E}">
        <p14:creationId xmlns:p14="http://schemas.microsoft.com/office/powerpoint/2010/main" val="3497787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F7EE5A4-1045-A0D2-1696-41D4FE2161B1}"/>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55946F8-D4AB-5D66-06DF-208308631097}"/>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876D3492-CFFC-FF88-951A-F91BDE8E3752}"/>
              </a:ext>
            </a:extLst>
          </p:cNvPr>
          <p:cNvSpPr/>
          <p:nvPr/>
        </p:nvSpPr>
        <p:spPr>
          <a:xfrm>
            <a:off x="884903" y="1153712"/>
            <a:ext cx="9548401" cy="4784972"/>
          </a:xfrm>
          <a:prstGeom prst="rect">
            <a:avLst/>
          </a:prstGeom>
          <a:noFill/>
          <a:ln>
            <a:noFill/>
          </a:ln>
        </p:spPr>
        <p:txBody>
          <a:bodyPr spcFirstLastPara="1" wrap="square" lIns="0" tIns="0" rIns="0" bIns="0" anchor="t" anchorCtr="0">
            <a:noAutofit/>
          </a:bodyPr>
          <a:lstStyle/>
          <a:p>
            <a:pPr marL="457200" indent="-457200">
              <a:buFont typeface="+mj-lt"/>
              <a:buAutoNum type="arabicPeriod"/>
            </a:pPr>
            <a:r>
              <a:rPr lang="en-IN" sz="2000" b="1" dirty="0">
                <a:latin typeface="Arial" panose="020B0604020202020204" pitchFamily="34" charset="0"/>
                <a:cs typeface="Arial" panose="020B0604020202020204" pitchFamily="34" charset="0"/>
              </a:rPr>
              <a:t>Public GitHub Repository</a:t>
            </a:r>
            <a:r>
              <a:rPr lang="en-IN" sz="2000" dirty="0">
                <a:latin typeface="Arial" panose="020B0604020202020204" pitchFamily="34" charset="0"/>
                <a:cs typeface="Arial" panose="020B0604020202020204" pitchFamily="34" charset="0"/>
              </a:rPr>
              <a:t>: MaternaLens-AI</a:t>
            </a:r>
            <a:br>
              <a:rPr lang="en-IN" sz="2000" dirty="0">
                <a:latin typeface="Arial" panose="020B0604020202020204" pitchFamily="34" charset="0"/>
                <a:cs typeface="Arial" panose="020B0604020202020204" pitchFamily="34" charset="0"/>
              </a:rPr>
            </a:br>
            <a:endParaRPr lang="en-IN" sz="2000" dirty="0">
              <a:latin typeface="Arial" panose="020B0604020202020204" pitchFamily="34" charset="0"/>
              <a:cs typeface="Arial" panose="020B0604020202020204" pitchFamily="34" charset="0"/>
            </a:endParaRPr>
          </a:p>
          <a:p>
            <a:pPr marL="457200" indent="-457200">
              <a:buFont typeface="+mj-lt"/>
              <a:buAutoNum type="arabicPeriod"/>
            </a:pPr>
            <a:r>
              <a:rPr lang="en-IN" sz="2000" b="1" dirty="0">
                <a:latin typeface="Arial" panose="020B0604020202020204" pitchFamily="34" charset="0"/>
                <a:cs typeface="Arial" panose="020B0604020202020204" pitchFamily="34" charset="0"/>
              </a:rPr>
              <a:t>Working URL</a:t>
            </a:r>
            <a:r>
              <a:rPr lang="en-IN" sz="2000" dirty="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hlinkClick r:id="rId3"/>
              </a:rPr>
              <a:t>https://github.com/GDAMPraveen/MaternaLens-AI</a:t>
            </a:r>
            <a:r>
              <a:rPr lang="en-IN" sz="2000" dirty="0">
                <a:latin typeface="Arial" panose="020B0604020202020204" pitchFamily="34" charset="0"/>
                <a:cs typeface="Arial" panose="020B0604020202020204" pitchFamily="34" charset="0"/>
              </a:rPr>
              <a:t> </a:t>
            </a:r>
          </a:p>
          <a:p>
            <a:pPr marL="457200" indent="-457200">
              <a:buFont typeface="+mj-lt"/>
              <a:buAutoNum type="arabicPeriod"/>
            </a:pPr>
            <a:endParaRPr lang="en-IN" sz="2000" dirty="0">
              <a:latin typeface="Arial" panose="020B0604020202020204" pitchFamily="34" charset="0"/>
              <a:cs typeface="Arial" panose="020B0604020202020204" pitchFamily="34" charset="0"/>
            </a:endParaRPr>
          </a:p>
          <a:p>
            <a:pPr marL="457200" indent="-457200">
              <a:buFont typeface="+mj-lt"/>
              <a:buAutoNum type="arabicPeriod"/>
            </a:pPr>
            <a:r>
              <a:rPr lang="en-IN" sz="2000" b="1" dirty="0" err="1">
                <a:latin typeface="Arial" panose="020B0604020202020204" pitchFamily="34" charset="0"/>
                <a:cs typeface="Arial" panose="020B0604020202020204" pitchFamily="34" charset="0"/>
              </a:rPr>
              <a:t>Streamlit</a:t>
            </a:r>
            <a:r>
              <a:rPr lang="en-IN" sz="2000" b="1" dirty="0">
                <a:latin typeface="Arial" panose="020B0604020202020204" pitchFamily="34" charset="0"/>
                <a:cs typeface="Arial" panose="020B0604020202020204" pitchFamily="34" charset="0"/>
              </a:rPr>
              <a:t> Deployed: </a:t>
            </a:r>
            <a:r>
              <a:rPr lang="en-IN" sz="2000" dirty="0" err="1">
                <a:solidFill>
                  <a:srgbClr val="0563C1"/>
                </a:solidFill>
                <a:hlinkClick r:id="rId4">
                  <a:extLst>
                    <a:ext uri="{A12FA001-AC4F-418D-AE19-62706E023703}">
                      <ahyp:hlinkClr xmlns:ahyp="http://schemas.microsoft.com/office/drawing/2018/hyperlinkcolor" val="tx"/>
                    </a:ext>
                  </a:extLst>
                </a:hlinkClick>
              </a:rPr>
              <a:t>MaternaLens</a:t>
            </a:r>
            <a:r>
              <a:rPr lang="en-IN" sz="2000" dirty="0">
                <a:solidFill>
                  <a:srgbClr val="0563C1"/>
                </a:solidFill>
                <a:hlinkClick r:id="rId4">
                  <a:extLst>
                    <a:ext uri="{A12FA001-AC4F-418D-AE19-62706E023703}">
                      <ahyp:hlinkClr xmlns:ahyp="http://schemas.microsoft.com/office/drawing/2018/hyperlinkcolor" val="tx"/>
                    </a:ext>
                  </a:extLst>
                </a:hlinkClick>
              </a:rPr>
              <a:t> AI · </a:t>
            </a:r>
            <a:r>
              <a:rPr lang="en-IN" sz="2000" dirty="0" err="1">
                <a:solidFill>
                  <a:srgbClr val="0563C1"/>
                </a:solidFill>
                <a:hlinkClick r:id="rId4">
                  <a:extLst>
                    <a:ext uri="{A12FA001-AC4F-418D-AE19-62706E023703}">
                      <ahyp:hlinkClr xmlns:ahyp="http://schemas.microsoft.com/office/drawing/2018/hyperlinkcolor" val="tx"/>
                    </a:ext>
                  </a:extLst>
                </a:hlinkClick>
              </a:rPr>
              <a:t>Streamlit</a:t>
            </a:r>
            <a:endParaRPr lang="en-IN" sz="2000" dirty="0">
              <a:solidFill>
                <a:srgbClr val="0563C1"/>
              </a:solidFill>
            </a:endParaRPr>
          </a:p>
          <a:p>
            <a:pPr marL="457200" indent="-457200">
              <a:buFont typeface="+mj-lt"/>
              <a:buAutoNum type="arabicPeriod"/>
            </a:pPr>
            <a:endParaRPr lang="en-IN" sz="2000" dirty="0">
              <a:latin typeface="Arial" panose="020B0604020202020204" pitchFamily="34" charset="0"/>
              <a:cs typeface="Arial" panose="020B0604020202020204" pitchFamily="34" charset="0"/>
            </a:endParaRPr>
          </a:p>
          <a:p>
            <a:pPr marL="457200" indent="-457200">
              <a:buFont typeface="+mj-lt"/>
              <a:buAutoNum type="arabicPeriod"/>
            </a:pPr>
            <a:r>
              <a:rPr lang="en-IN" sz="2000" dirty="0">
                <a:latin typeface="Arial" panose="020B0604020202020204" pitchFamily="34" charset="0"/>
                <a:cs typeface="Arial" panose="020B0604020202020204" pitchFamily="34" charset="0"/>
              </a:rPr>
              <a:t>Repository contains: </a:t>
            </a:r>
            <a:br>
              <a:rPr lang="en-IN" sz="2000" dirty="0">
                <a:latin typeface="Arial" panose="020B0604020202020204" pitchFamily="34" charset="0"/>
                <a:cs typeface="Arial" panose="020B0604020202020204" pitchFamily="34" charset="0"/>
              </a:rPr>
            </a:b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dirty="0" err="1">
                <a:latin typeface="Arial" panose="020B0604020202020204" pitchFamily="34" charset="0"/>
                <a:cs typeface="Arial" panose="020B0604020202020204" pitchFamily="34" charset="0"/>
              </a:rPr>
              <a:t>app.json</a:t>
            </a:r>
            <a:br>
              <a:rPr lang="en-IN" sz="2000" dirty="0">
                <a:latin typeface="Arial" panose="020B0604020202020204" pitchFamily="34" charset="0"/>
                <a:cs typeface="Arial" panose="020B0604020202020204" pitchFamily="34" charset="0"/>
              </a:rPr>
            </a:b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dirty="0" err="1">
                <a:latin typeface="Arial" panose="020B0604020202020204" pitchFamily="34" charset="0"/>
                <a:cs typeface="Arial" panose="020B0604020202020204" pitchFamily="34" charset="0"/>
              </a:rPr>
              <a:t>Mentarnal</a:t>
            </a:r>
            <a:r>
              <a:rPr lang="en-IN" sz="2000" dirty="0">
                <a:latin typeface="Arial" panose="020B0604020202020204" pitchFamily="34" charset="0"/>
                <a:cs typeface="Arial" panose="020B0604020202020204" pitchFamily="34" charset="0"/>
              </a:rPr>
              <a:t> AI kosha Problem Statement.pdf</a:t>
            </a:r>
            <a:br>
              <a:rPr lang="en-IN" sz="2000" dirty="0">
                <a:latin typeface="Arial" panose="020B0604020202020204" pitchFamily="34" charset="0"/>
                <a:cs typeface="Arial" panose="020B0604020202020204" pitchFamily="34" charset="0"/>
              </a:rPr>
            </a:br>
            <a:endParaRPr lang="en-IN" sz="20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IN" sz="2000" dirty="0" err="1">
                <a:latin typeface="Arial" panose="020B0604020202020204" pitchFamily="34" charset="0"/>
                <a:cs typeface="Arial" panose="020B0604020202020204" pitchFamily="34" charset="0"/>
              </a:rPr>
              <a:t>Mentarnal</a:t>
            </a:r>
            <a:r>
              <a:rPr lang="en-IN" sz="2000" dirty="0">
                <a:latin typeface="Arial" panose="020B0604020202020204" pitchFamily="34" charset="0"/>
                <a:cs typeface="Arial" panose="020B0604020202020204" pitchFamily="34" charset="0"/>
              </a:rPr>
              <a:t> AI kosha.pptx</a:t>
            </a:r>
            <a:br>
              <a:rPr lang="en-IN" sz="2000" dirty="0">
                <a:latin typeface="Arial" panose="020B0604020202020204" pitchFamily="34" charset="0"/>
                <a:cs typeface="Arial" panose="020B0604020202020204" pitchFamily="34" charset="0"/>
              </a:rPr>
            </a:br>
            <a:endParaRPr lang="en-IN" sz="20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
            </a:pPr>
            <a:r>
              <a:rPr lang="en-IN" sz="2000" dirty="0">
                <a:latin typeface="Arial" panose="020B0604020202020204" pitchFamily="34" charset="0"/>
                <a:cs typeface="Arial" panose="020B0604020202020204" pitchFamily="34" charset="0"/>
              </a:rPr>
              <a:t>Source code, dataset, notebooks, utilities, README &amp; requirements</a:t>
            </a:r>
            <a:br>
              <a:rPr lang="en-IN" sz="2000" dirty="0">
                <a:latin typeface="Arial" panose="020B0604020202020204" pitchFamily="34" charset="0"/>
                <a:cs typeface="Arial" panose="020B0604020202020204" pitchFamily="34" charset="0"/>
              </a:rPr>
            </a:br>
            <a:endParaRPr lang="en-IN" sz="20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
            </a:pPr>
            <a:r>
              <a:rPr lang="en-IN" sz="2000" dirty="0">
                <a:latin typeface="Arial" panose="020B0604020202020204" pitchFamily="34" charset="0"/>
                <a:cs typeface="Arial" panose="020B0604020202020204" pitchFamily="34" charset="0"/>
              </a:rPr>
              <a:t>Repository Status: Public &amp; Accessible</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89F9E35C-F791-913F-9437-5C12C0719956}"/>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030D27A3-777D-9CCF-D843-2E616693509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DF6D1FD8-C665-E7B6-DA24-0E4E30622C2E}"/>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84223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393289" y="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324464" y="834695"/>
            <a:ext cx="11543071" cy="6023305"/>
          </a:xfrm>
          <a:prstGeom prst="rect">
            <a:avLst/>
          </a:prstGeom>
          <a:noFill/>
          <a:ln>
            <a:noFill/>
          </a:ln>
        </p:spPr>
        <p:txBody>
          <a:bodyPr spcFirstLastPara="1" wrap="square" lIns="0" tIns="0" rIns="0" bIns="0" anchor="t" anchorCtr="0">
            <a:noAutofit/>
          </a:bodyPr>
          <a:lstStyle/>
          <a:p>
            <a:r>
              <a:rPr lang="en-IN" sz="1500" b="1" dirty="0"/>
              <a:t>1.Multi-Country and Multi-Year Data Integration – </a:t>
            </a:r>
            <a:r>
              <a:rPr lang="en-IN" sz="1500" dirty="0"/>
              <a:t>The system can be extended to include maternal-health datasets from multiple countries and a wider range of years. This will enable </a:t>
            </a:r>
            <a:r>
              <a:rPr lang="en-IN" sz="1500" dirty="0" err="1"/>
              <a:t>MaternaLens</a:t>
            </a:r>
            <a:r>
              <a:rPr lang="en-IN" sz="1500" dirty="0"/>
              <a:t> AI to perform geographic comparisons, identify differences in maternal mortality and healthcare indicators, and provide a broader assessment of progress toward SDG 3.1.</a:t>
            </a:r>
          </a:p>
          <a:p>
            <a:pPr marL="342900" indent="-342900">
              <a:buAutoNum type="arabicPeriod"/>
            </a:pPr>
            <a:endParaRPr lang="en-IN" sz="800" dirty="0"/>
          </a:p>
          <a:p>
            <a:r>
              <a:rPr lang="en-IN" sz="1500" b="1" dirty="0"/>
              <a:t>2. Advanced Predictive Analytics &amp; Forecasting – </a:t>
            </a:r>
            <a:r>
              <a:rPr lang="en-IN" sz="1500" dirty="0"/>
              <a:t>Future versions can incorporate forecasting and predictive analytics to study maternal mortality trends and estimate future progress toward the SDG 3.1 target. This can help identify potential gaps early and support more informed maternal-health planning and decision-making.</a:t>
            </a:r>
          </a:p>
          <a:p>
            <a:endParaRPr lang="en-IN" sz="800" dirty="0"/>
          </a:p>
          <a:p>
            <a:r>
              <a:rPr lang="en-IN" sz="1500" b="1" dirty="0"/>
              <a:t>3. Expanded Maternal-Health Indicators – </a:t>
            </a:r>
            <a:r>
              <a:rPr lang="en-IN" sz="1500" dirty="0"/>
              <a:t>The platform can be enhanced by incorporating additional indicators such as adolescent birth rates, healthcare expenditure, and other maternal-health measures. This will provide a more comprehensive view of the factors associated with maternal-health progress.</a:t>
            </a:r>
          </a:p>
          <a:p>
            <a:endParaRPr lang="en-IN" sz="800" dirty="0"/>
          </a:p>
          <a:p>
            <a:r>
              <a:rPr lang="en-IN" sz="1500" b="1" dirty="0"/>
              <a:t>4. Advanced AI and Agentic Workflows – </a:t>
            </a:r>
            <a:r>
              <a:rPr lang="en-IN" sz="1500" dirty="0"/>
              <a:t>Future development can introduce more advanced agentic workflows and automated analysis agents to handle different stages of the data-analysis process. These agents could support automated dataset understanding, analytical selection, insight generation, and improved natural-language interaction.</a:t>
            </a:r>
          </a:p>
          <a:p>
            <a:endParaRPr lang="en-IN" sz="800" dirty="0"/>
          </a:p>
          <a:p>
            <a:r>
              <a:rPr lang="en-IN" sz="1500" b="1" dirty="0"/>
              <a:t>5. Natural-Language Chart Generation – </a:t>
            </a:r>
            <a:r>
              <a:rPr lang="en-IN" sz="1500" dirty="0" err="1"/>
              <a:t>MaternaLens</a:t>
            </a:r>
            <a:r>
              <a:rPr lang="en-IN" sz="1500" dirty="0"/>
              <a:t> AI can be further enhanced to generate relevant charts and visualizations directly from natural-language questions. This would allow users to ask questions about maternal-health data and receive both analytical answers and appropriate visual representations.</a:t>
            </a:r>
          </a:p>
          <a:p>
            <a:endParaRPr lang="en-IN" sz="800" dirty="0"/>
          </a:p>
          <a:p>
            <a:r>
              <a:rPr lang="en-IN" sz="1500" b="1" dirty="0"/>
              <a:t>6. Enhanced Geographic Visualization – </a:t>
            </a:r>
            <a:r>
              <a:rPr lang="en-IN" sz="1500" dirty="0"/>
              <a:t>With the integration of multiple geographic locations, future versions can include maps and interactive geographic visualizations. This can help users compare maternal-health indicators across countries or regions and identify areas requiring greater attention.</a:t>
            </a:r>
          </a:p>
          <a:p>
            <a:endParaRPr lang="en-IN" sz="800" dirty="0"/>
          </a:p>
          <a:p>
            <a:r>
              <a:rPr lang="en-IN" sz="1500" b="1" dirty="0"/>
              <a:t>7. Integration of Additional IBM Foundation Models – </a:t>
            </a:r>
            <a:r>
              <a:rPr lang="en-IN" sz="1500" dirty="0"/>
              <a:t>The system can be extended to support additional IBM foundation models through IBM watsonx.ai when suitable model endpoints are available. This can provide greater flexibility in AI-powered interpretation, natural-language Q&amp;A, and future intelligent analytical workflows.</a:t>
            </a:r>
          </a:p>
          <a:p>
            <a:pPr marL="0" marR="0" lvl="0" indent="0" algn="l" rtl="0">
              <a:lnSpc>
                <a:spcPct val="162162"/>
              </a:lnSpc>
              <a:spcBef>
                <a:spcPts val="0"/>
              </a:spcBef>
              <a:spcAft>
                <a:spcPts val="0"/>
              </a:spcAft>
              <a:buClr>
                <a:srgbClr val="2B3541"/>
              </a:buClr>
              <a:buSzPts val="1850"/>
              <a:buFont typeface="Times New Roman"/>
              <a:buNone/>
            </a:pPr>
            <a:endParaRPr sz="15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093ADAF3-BDCC-A2D2-1263-ED0C991A4108}"/>
              </a:ext>
            </a:extLst>
          </p:cNvPr>
          <p:cNvPicPr>
            <a:picLocks noChangeAspect="1"/>
          </p:cNvPicPr>
          <p:nvPr/>
        </p:nvPicPr>
        <p:blipFill>
          <a:blip r:embed="rId2"/>
          <a:stretch>
            <a:fillRect/>
          </a:stretch>
        </p:blipFill>
        <p:spPr>
          <a:xfrm>
            <a:off x="1049735" y="725850"/>
            <a:ext cx="10188535" cy="603556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E84FBA6E-2B97-0994-24A6-E038D4238BB5}"/>
              </a:ext>
            </a:extLst>
          </p:cNvPr>
          <p:cNvPicPr>
            <a:picLocks noChangeAspect="1"/>
          </p:cNvPicPr>
          <p:nvPr/>
        </p:nvPicPr>
        <p:blipFill>
          <a:blip r:embed="rId2"/>
          <a:stretch>
            <a:fillRect/>
          </a:stretch>
        </p:blipFill>
        <p:spPr>
          <a:xfrm>
            <a:off x="1013365" y="903499"/>
            <a:ext cx="10254404" cy="558970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TotalTime>
  <Words>2168</Words>
  <Application>Microsoft Office PowerPoint</Application>
  <PresentationFormat>Widescreen</PresentationFormat>
  <Paragraphs>170</Paragraphs>
  <Slides>21</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Black</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PRAVEEN S</cp:lastModifiedBy>
  <cp:revision>12</cp:revision>
  <dcterms:created xsi:type="dcterms:W3CDTF">2025-07-08T05:06:56Z</dcterms:created>
  <dcterms:modified xsi:type="dcterms:W3CDTF">2026-09-11T15:07:21Z</dcterms:modified>
</cp:coreProperties>
</file>